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4630400" cy="8229600"/>
  <p:notesSz cx="8229600" cy="14630400"/>
  <p:embeddedFontLst>
    <p:embeddedFont>
      <p:font typeface="Raleway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66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Circuit Board Details Image | Download at StockCake">
            <a:extLst>
              <a:ext uri="{FF2B5EF4-FFF2-40B4-BE49-F238E27FC236}">
                <a16:creationId xmlns:a16="http://schemas.microsoft.com/office/drawing/2014/main" id="{1CC17EF2-7DA3-75C0-61E3-A9E5EFF39B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1" r="20461"/>
          <a:stretch/>
        </p:blipFill>
        <p:spPr bwMode="auto">
          <a:xfrm>
            <a:off x="0" y="0"/>
            <a:ext cx="5163015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58CE7191-3A84-DA9A-39FE-ED9907019019}"/>
              </a:ext>
            </a:extLst>
          </p:cNvPr>
          <p:cNvSpPr/>
          <p:nvPr/>
        </p:nvSpPr>
        <p:spPr>
          <a:xfrm>
            <a:off x="6144321" y="2078262"/>
            <a:ext cx="7335449" cy="131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7700"/>
              </a:lnSpc>
              <a:buNone/>
            </a:pPr>
            <a:r>
              <a:rPr lang="en-US" sz="7200" kern="0">
                <a:effectLst/>
                <a:latin typeface="DM Sans Semi Bold "/>
                <a:ea typeface="MS Mincho" panose="02020609040205080304" pitchFamily="49" charset="-128"/>
              </a:rPr>
              <a:t>High-Pass Filters</a:t>
            </a:r>
            <a:endParaRPr lang="en-US" sz="7200">
              <a:latin typeface="DM Sans Semi Bold "/>
            </a:endParaRPr>
          </a:p>
        </p:txBody>
      </p:sp>
      <p:sp>
        <p:nvSpPr>
          <p:cNvPr id="3" name="Metin kutusu 5">
            <a:extLst>
              <a:ext uri="{FF2B5EF4-FFF2-40B4-BE49-F238E27FC236}">
                <a16:creationId xmlns:a16="http://schemas.microsoft.com/office/drawing/2014/main" id="{84363E08-F7C4-B78F-0DB8-AAF3E895BF1E}"/>
              </a:ext>
            </a:extLst>
          </p:cNvPr>
          <p:cNvSpPr txBox="1"/>
          <p:nvPr/>
        </p:nvSpPr>
        <p:spPr>
          <a:xfrm>
            <a:off x="6144321" y="4114800"/>
            <a:ext cx="61645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>
                <a:latin typeface="DM Sans Semi Bold "/>
              </a:rPr>
              <a:t>F</a:t>
            </a:r>
            <a:r>
              <a:rPr lang="az-Latn-AZ" sz="3600">
                <a:latin typeface="DM Sans Semi Bold "/>
              </a:rPr>
              <a:t>ənn</a:t>
            </a:r>
            <a:r>
              <a:rPr lang="en-US" sz="3600">
                <a:latin typeface="DM Sans Semi Bold "/>
              </a:rPr>
              <a:t>: </a:t>
            </a:r>
            <a:r>
              <a:rPr lang="az-Latn-AZ" sz="3600">
                <a:latin typeface="DM Sans Semi Bold "/>
              </a:rPr>
              <a:t>Texniki xarici dil</a:t>
            </a:r>
            <a:endParaRPr lang="en-US" sz="3600">
              <a:latin typeface="DM Sans Semi Bold "/>
            </a:endParaRPr>
          </a:p>
          <a:p>
            <a:endParaRPr lang="en-US" sz="2400"/>
          </a:p>
        </p:txBody>
      </p:sp>
      <p:sp>
        <p:nvSpPr>
          <p:cNvPr id="4" name="Metin kutusu 6">
            <a:extLst>
              <a:ext uri="{FF2B5EF4-FFF2-40B4-BE49-F238E27FC236}">
                <a16:creationId xmlns:a16="http://schemas.microsoft.com/office/drawing/2014/main" id="{4D4A7F0C-E9BC-6972-C7E1-0F71047EE0BF}"/>
              </a:ext>
            </a:extLst>
          </p:cNvPr>
          <p:cNvSpPr txBox="1"/>
          <p:nvPr/>
        </p:nvSpPr>
        <p:spPr>
          <a:xfrm>
            <a:off x="6144321" y="5248403"/>
            <a:ext cx="641444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z-Latn-AZ" sz="2500">
                <a:latin typeface="DM Sans Semi Bold "/>
              </a:rPr>
              <a:t>Müəllim: </a:t>
            </a:r>
            <a:r>
              <a:rPr lang="en-US" sz="2500">
                <a:latin typeface="DM Sans Semi Bold "/>
              </a:rPr>
              <a:t>Səfərov Rza</a:t>
            </a:r>
          </a:p>
          <a:p>
            <a:endParaRPr lang="en-US" sz="2800">
              <a:latin typeface="DM Sans Semi Bold "/>
            </a:endParaRPr>
          </a:p>
          <a:p>
            <a:r>
              <a:rPr lang="az-Latn-AZ" sz="2500">
                <a:latin typeface="DM Sans Semi Bold "/>
              </a:rPr>
              <a:t>Tələbə:</a:t>
            </a:r>
            <a:r>
              <a:rPr lang="en-US" sz="2500">
                <a:latin typeface="DM Sans Semi Bold "/>
              </a:rPr>
              <a:t>H</a:t>
            </a:r>
            <a:r>
              <a:rPr lang="az-Latn-AZ" sz="2500">
                <a:latin typeface="DM Sans Semi Bold "/>
              </a:rPr>
              <a:t>əsən Hümbətov 623.21</a:t>
            </a:r>
          </a:p>
          <a:p>
            <a:endParaRPr lang="en-US" sz="3200">
              <a:latin typeface="DM Sans Semi Bold "/>
            </a:endParaRPr>
          </a:p>
        </p:txBody>
      </p:sp>
    </p:spTree>
    <p:extLst>
      <p:ext uri="{BB962C8B-B14F-4D97-AF65-F5344CB8AC3E}">
        <p14:creationId xmlns:p14="http://schemas.microsoft.com/office/powerpoint/2010/main" val="134045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89" y="2497115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High-Pass </a:t>
            </a:r>
            <a:r>
              <a:rPr lang="en-US" sz="61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Filters 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453723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High-pass filters are essential components in electronic circuits. They allow high-frequency signals to pass through while attenuating low-frequency signals. These filters are used in various applications, including audio systems, communication networks, and medical devices.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899" y="805815"/>
            <a:ext cx="7716202" cy="1275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Filters in Electronic Circuits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3899" y="2386965"/>
            <a:ext cx="7716202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Electronic circuits use filters to manipulate signal frequencies. Filters can be used to remove unwanted frequencies, enhance desired frequencies, or shape a signal's frequency response. Filters are used in various electronic applications.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13899" y="3824526"/>
            <a:ext cx="458986" cy="45898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77848" y="3900964"/>
            <a:ext cx="130969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76839" y="3824526"/>
            <a:ext cx="2549962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Low-Pass Filters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376839" y="4265652"/>
            <a:ext cx="3093244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Attenuate high-frequency signals while allowing low-frequency signals to pass through.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74037" y="3824526"/>
            <a:ext cx="458986" cy="45898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823817" y="3900964"/>
            <a:ext cx="159425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336977" y="3824526"/>
            <a:ext cx="2549962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High-Pass Filters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336977" y="4265652"/>
            <a:ext cx="3093244" cy="978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Attenuate low-frequency signals while allowing high-frequency signals to pass through.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3899" y="5677733"/>
            <a:ext cx="458986" cy="45898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1655" y="5754172"/>
            <a:ext cx="163354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376839" y="5677733"/>
            <a:ext cx="2549962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Band-Pass Filters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376839" y="6118860"/>
            <a:ext cx="3093244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 a specific range of frequencies to pass through while attenuating frequencies outside that range.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74037" y="5677733"/>
            <a:ext cx="458986" cy="458986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20007" y="5754172"/>
            <a:ext cx="167045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336977" y="5677733"/>
            <a:ext cx="2549962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Band-Stop Filters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336977" y="6118860"/>
            <a:ext cx="3093244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Attenuate a specific range of frequencies while allowing frequencies outside that range to pass through.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28742" y="649486"/>
            <a:ext cx="7859316" cy="114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Understanding Frequency and Frequency Bands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128742" y="2071807"/>
            <a:ext cx="7859316" cy="881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Frequency refers to the rate at which a signal oscillates. Signals can be categorized into frequency bands based on their frequency range. These bands are used in various applications, including radio communication, audio engineering, and signal processing.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92585" y="3159443"/>
            <a:ext cx="22860" cy="4420672"/>
          </a:xfrm>
          <a:prstGeom prst="roundRect">
            <a:avLst>
              <a:gd name="adj" fmla="val 33724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587609" y="3560921"/>
            <a:ext cx="642342" cy="22860"/>
          </a:xfrm>
          <a:prstGeom prst="roundRect">
            <a:avLst>
              <a:gd name="adj" fmla="val 33724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197560" y="3365897"/>
            <a:ext cx="412909" cy="41290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345079" y="3434596"/>
            <a:ext cx="117872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413546" y="3342918"/>
            <a:ext cx="229445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Audio Frequencies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13546" y="3739753"/>
            <a:ext cx="6574512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range of frequencies humans can hear, typically 20 Hz to 20 kHz. It is divided into sub-bands, including bass, midrange, and treble.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7609" y="5095637"/>
            <a:ext cx="642342" cy="22860"/>
          </a:xfrm>
          <a:prstGeom prst="roundRect">
            <a:avLst>
              <a:gd name="adj" fmla="val 33724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197560" y="4900613"/>
            <a:ext cx="412909" cy="41290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332220" y="4969312"/>
            <a:ext cx="143470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413546" y="4877633"/>
            <a:ext cx="229445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Radio Frequencies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13546" y="5274469"/>
            <a:ext cx="6574512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for wireless communication, including AM and FM radio, as well as cellular and satellite communication. These frequencies range from kHz to GHz.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587609" y="6630353"/>
            <a:ext cx="642342" cy="22860"/>
          </a:xfrm>
          <a:prstGeom prst="roundRect">
            <a:avLst>
              <a:gd name="adj" fmla="val 337246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97560" y="6435328"/>
            <a:ext cx="412909" cy="412909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30434" y="6504027"/>
            <a:ext cx="147042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413546" y="6412349"/>
            <a:ext cx="229445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Optical Frequencies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13546" y="6809184"/>
            <a:ext cx="6574512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in optical communication and technology, including fiber optic cables, lasers, and light detectors. These frequencies are in the THz range.</a:t>
            </a:r>
            <a:endParaRPr lang="en-US" sz="1400" dirty="0"/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924F57A9-0F7B-821F-C4EC-CC0A4B35A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923" y="7800915"/>
            <a:ext cx="1981477" cy="428685"/>
          </a:xfrm>
          <a:prstGeom prst="rect">
            <a:avLst/>
          </a:prstGeom>
        </p:spPr>
      </p:pic>
      <p:pic>
        <p:nvPicPr>
          <p:cNvPr id="1026" name="Picture 2" descr="Educational illustration of frequency isolated on a white background. Low  frequency and high frequency. Temporal, spatial, angular frequency. Stock  Vector | Adobe Stock">
            <a:extLst>
              <a:ext uri="{FF2B5EF4-FFF2-40B4-BE49-F238E27FC236}">
                <a16:creationId xmlns:a16="http://schemas.microsoft.com/office/drawing/2014/main" id="{AAE67CC4-1BE3-03EE-3D82-55DCFD7BFB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6" r="11175"/>
          <a:stretch/>
        </p:blipFill>
        <p:spPr bwMode="auto">
          <a:xfrm>
            <a:off x="0" y="0"/>
            <a:ext cx="5578078" cy="822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83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818" y="2250162"/>
            <a:ext cx="4972645" cy="37295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9257" y="565071"/>
            <a:ext cx="6315670" cy="642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a High-Pass Filter?</a:t>
            </a: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719257" y="1515428"/>
            <a:ext cx="7705487" cy="986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high-pass filter is an electronic circuit that allows high-frequency signals to pass through while attenuating low-frequency signals. The cutoff frequency is the frequency at which the filter starts to attenuate signals.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257" y="2732723"/>
            <a:ext cx="1027509" cy="164401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055019" y="2938224"/>
            <a:ext cx="256889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Signal Input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2055019" y="3382566"/>
            <a:ext cx="636972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signal to be filtered is applied to the filter's input.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257" y="4376738"/>
            <a:ext cx="1027509" cy="164401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55019" y="4582239"/>
            <a:ext cx="256889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Filter Circuit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2055019" y="5026581"/>
            <a:ext cx="6369725" cy="65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filter circuit contains components that selectively pass or attenuate signals based on their frequency.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257" y="6020753"/>
            <a:ext cx="1027509" cy="164401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055019" y="6226254"/>
            <a:ext cx="2568893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Signal Output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2055019" y="6670596"/>
            <a:ext cx="6369725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filtered signal is available at the filter's output.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483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8" y="2259330"/>
            <a:ext cx="4954905" cy="371617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30660" y="584716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Characteristics of High-Pass Filters</a:t>
            </a:r>
            <a:endParaRPr lang="en-US" sz="4150" dirty="0"/>
          </a:p>
        </p:txBody>
      </p:sp>
      <p:sp>
        <p:nvSpPr>
          <p:cNvPr id="5" name="Text 1"/>
          <p:cNvSpPr/>
          <p:nvPr/>
        </p:nvSpPr>
        <p:spPr>
          <a:xfrm>
            <a:off x="6230660" y="2232660"/>
            <a:ext cx="765548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High-pass filters are characterized by their cutoff frequency, roll-off rate, and passband and stopband characteristics.</a:t>
            </a:r>
            <a:endParaRPr lang="en-US" sz="1650" dirty="0"/>
          </a:p>
        </p:txBody>
      </p:sp>
      <p:sp>
        <p:nvSpPr>
          <p:cNvPr id="6" name="Shape 2"/>
          <p:cNvSpPr/>
          <p:nvPr/>
        </p:nvSpPr>
        <p:spPr>
          <a:xfrm>
            <a:off x="6230660" y="3152180"/>
            <a:ext cx="7655481" cy="4497943"/>
          </a:xfrm>
          <a:prstGeom prst="roundRect">
            <a:avLst>
              <a:gd name="adj" fmla="val 198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238280" y="3159800"/>
            <a:ext cx="7640241" cy="95059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6450925" y="3294936"/>
            <a:ext cx="339101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Cutoff Frequency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0274856" y="3294936"/>
            <a:ext cx="339101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frequency at which the filter starts to attenuate signals.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6238280" y="4110395"/>
            <a:ext cx="7640241" cy="129075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50925" y="4245531"/>
            <a:ext cx="339101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Roll-Off Rate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0274856" y="4245531"/>
            <a:ext cx="339101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rate at which the filter attenuates signals beyond the cutoff frequency.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6238280" y="5401151"/>
            <a:ext cx="7640241" cy="129075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450925" y="5536287"/>
            <a:ext cx="339101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Passband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0274856" y="5536287"/>
            <a:ext cx="339101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range of frequencies that the filter allows to pass through with minimal attenuation.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6238280" y="6691908"/>
            <a:ext cx="7640241" cy="95059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50925" y="6827044"/>
            <a:ext cx="339101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Stopband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10274856" y="6827044"/>
            <a:ext cx="339101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range of frequencies that the filter significantly attenuates.</a:t>
            </a:r>
            <a:endParaRPr lang="en-US" sz="1650" dirty="0"/>
          </a:p>
        </p:txBody>
      </p:sp>
      <p:pic>
        <p:nvPicPr>
          <p:cNvPr id="19" name="Resim 18">
            <a:extLst>
              <a:ext uri="{FF2B5EF4-FFF2-40B4-BE49-F238E27FC236}">
                <a16:creationId xmlns:a16="http://schemas.microsoft.com/office/drawing/2014/main" id="{49A50C33-979B-405B-05D8-656D74BEE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923" y="7800915"/>
            <a:ext cx="1981477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8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527" y="618053"/>
            <a:ext cx="7570946" cy="140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Considerations for High-Pass Filters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86527" y="2359581"/>
            <a:ext cx="7570946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Designing a high-pass filter involves selecting appropriate components, determining the cutoff frequency, and considering the required roll-off rate.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86527" y="3331488"/>
            <a:ext cx="3673197" cy="238887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18818" y="3563779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Cutoff Frequency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18818" y="4049792"/>
            <a:ext cx="3208615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cutoff frequency is a critical parameter that determines the filter's frequency response.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4395" y="3331488"/>
            <a:ext cx="3673197" cy="2388870"/>
          </a:xfrm>
          <a:prstGeom prst="roundRect">
            <a:avLst>
              <a:gd name="adj" fmla="val 395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16686" y="3563779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Roll-Off Rate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6686" y="4049792"/>
            <a:ext cx="3208615" cy="1438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roll-off rate determines how quickly the filter attenuates signals beyond the cutoff frequency.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86527" y="5945029"/>
            <a:ext cx="7570946" cy="1669732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18818" y="6177320"/>
            <a:ext cx="2832021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 Selection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18818" y="6663333"/>
            <a:ext cx="7106364" cy="719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Choosing appropriate components, such as resistors and capacitors, is crucial for achieving the desired filter characteristics.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648551"/>
            <a:ext cx="83096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Passive High-Pass Filter Circuits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974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Passive high-pass filters are constructed using passive components, such as resistors and capacitors. These filters are simple to implement but may have limitations in terms of performance and flexibility.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9052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RC Filter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48640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common passive high-pass filter that uses a resistor and a capacitor in series.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59052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RL Filter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99521" y="648640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a resistor and an inductor in series. It offers higher impedance at low frequencies compared to RC filters.</a:t>
            </a:r>
            <a:endParaRPr lang="en-US" sz="1750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03149808-CE4D-4568-89A9-496ABEB48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923" y="7722858"/>
            <a:ext cx="1981477" cy="428685"/>
          </a:xfrm>
          <a:prstGeom prst="rect">
            <a:avLst/>
          </a:prstGeom>
        </p:spPr>
      </p:pic>
      <p:pic>
        <p:nvPicPr>
          <p:cNvPr id="2050" name="Picture 2" descr="Passive High Pass Filter">
            <a:extLst>
              <a:ext uri="{FF2B5EF4-FFF2-40B4-BE49-F238E27FC236}">
                <a16:creationId xmlns:a16="http://schemas.microsoft.com/office/drawing/2014/main" id="{AE3D57D6-D8C8-8F1B-217D-58AC3C516E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35983"/>
            <a:ext cx="6861367" cy="287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ypes of Passive High Pass Filters - 1st Order &amp; 2nd Order Passive Filters">
            <a:extLst>
              <a:ext uri="{FF2B5EF4-FFF2-40B4-BE49-F238E27FC236}">
                <a16:creationId xmlns:a16="http://schemas.microsoft.com/office/drawing/2014/main" id="{4A38DD1A-E153-8602-FB7B-E379D36B7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366" y="-35983"/>
            <a:ext cx="7769034" cy="287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27540"/>
            <a:ext cx="5486400" cy="4114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21956" y="634603"/>
            <a:ext cx="6387703" cy="567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 High-Pass Filter Circuits</a:t>
            </a:r>
            <a:endParaRPr lang="en-US" sz="3550" dirty="0"/>
          </a:p>
        </p:txBody>
      </p:sp>
      <p:sp>
        <p:nvSpPr>
          <p:cNvPr id="5" name="Text 1"/>
          <p:cNvSpPr/>
          <p:nvPr/>
        </p:nvSpPr>
        <p:spPr>
          <a:xfrm>
            <a:off x="6121956" y="1474351"/>
            <a:ext cx="7872889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high-pass filters use active components, such as operational amplifiers (op-amps), to enhance performance and flexibility. These filters can achieve steeper roll-off rates and lower cutoff frequencies compared to passive filters.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956" y="2550081"/>
            <a:ext cx="453866" cy="45386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121956" y="3185517"/>
            <a:ext cx="2269808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Gain Control</a:t>
            </a:r>
            <a:endParaRPr lang="en-US" sz="1750" dirty="0"/>
          </a:p>
        </p:txBody>
      </p:sp>
      <p:sp>
        <p:nvSpPr>
          <p:cNvPr id="8" name="Text 3"/>
          <p:cNvSpPr/>
          <p:nvPr/>
        </p:nvSpPr>
        <p:spPr>
          <a:xfrm>
            <a:off x="6121956" y="3578066"/>
            <a:ext cx="787288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filters can amplify the signal, which can improve the signal-to-noise ratio.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956" y="4413290"/>
            <a:ext cx="453866" cy="45386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121956" y="5048726"/>
            <a:ext cx="2418517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Performance</a:t>
            </a:r>
            <a:endParaRPr lang="en-US" sz="1750" dirty="0"/>
          </a:p>
        </p:txBody>
      </p:sp>
      <p:sp>
        <p:nvSpPr>
          <p:cNvPr id="11" name="Text 5"/>
          <p:cNvSpPr/>
          <p:nvPr/>
        </p:nvSpPr>
        <p:spPr>
          <a:xfrm>
            <a:off x="6121956" y="5441275"/>
            <a:ext cx="787288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filters offer better roll-off characteristics and lower cutoff frequencies.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956" y="6276499"/>
            <a:ext cx="453866" cy="45386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21956" y="6911935"/>
            <a:ext cx="2269808" cy="28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Flexibility</a:t>
            </a:r>
            <a:endParaRPr lang="en-US" sz="1750" dirty="0"/>
          </a:p>
        </p:txBody>
      </p:sp>
      <p:sp>
        <p:nvSpPr>
          <p:cNvPr id="14" name="Text 7"/>
          <p:cNvSpPr/>
          <p:nvPr/>
        </p:nvSpPr>
        <p:spPr>
          <a:xfrm>
            <a:off x="6121956" y="7304484"/>
            <a:ext cx="7872889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Active filters can be easily customized to meet specific requirements.</a:t>
            </a:r>
            <a:endParaRPr lang="en-US" sz="1400" dirty="0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BC38E763-7EC5-ADA3-6BC5-FFB5430F07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8923" y="7800915"/>
            <a:ext cx="1981477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9889"/>
            <a:ext cx="84451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of High-Pass Filters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22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High-pass filters are widely used in various electronic applications, from audio systems to communication networks.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00350"/>
            <a:ext cx="4120753" cy="25467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630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Audio Systems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121003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to separate high-frequency signals for tweeters and low-frequency signals for woofers.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704" y="2800350"/>
            <a:ext cx="4120872" cy="254686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54704" y="5630704"/>
            <a:ext cx="34075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Communication Networks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54704" y="6121122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to remove low-frequency noise and interference from signals.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738" y="2800350"/>
            <a:ext cx="4120753" cy="25467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56305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Medical Devices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6121003"/>
            <a:ext cx="41207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to filter out unwanted noise and interference from medical signals, such as ECG and EEG.</a:t>
            </a:r>
            <a:endParaRPr lang="en-US" sz="1750" dirty="0"/>
          </a:p>
        </p:txBody>
      </p:sp>
      <p:pic>
        <p:nvPicPr>
          <p:cNvPr id="13" name="Resim 12">
            <a:extLst>
              <a:ext uri="{FF2B5EF4-FFF2-40B4-BE49-F238E27FC236}">
                <a16:creationId xmlns:a16="http://schemas.microsoft.com/office/drawing/2014/main" id="{94684B92-D4EF-CCA1-94E4-3EA0CAE23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8923" y="7683191"/>
            <a:ext cx="1981477" cy="5464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5066" y="944523"/>
            <a:ext cx="7626667" cy="1354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30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and Key Takeaways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45066" y="2624614"/>
            <a:ext cx="7626667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High-pass filters are essential components in electronic circuits that allow high-frequency signals to pass through while attenuating low-frequency signals.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5066" y="3805952"/>
            <a:ext cx="487680" cy="48768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19255" y="3887153"/>
            <a:ext cx="13918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6949440" y="3805952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Frequency Filtering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949440" y="4274701"/>
            <a:ext cx="3000613" cy="138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High-pass filters selectively allow high-frequency signals to pass through while attenuating low-frequency signals.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166747" y="3805952"/>
            <a:ext cx="487680" cy="48768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325814" y="3887153"/>
            <a:ext cx="16942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10871121" y="3805952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Cutoff Frequency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871121" y="4274701"/>
            <a:ext cx="3000613" cy="1387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cutoff frequency determines the point at which the filter starts attenuating signals.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5066" y="6122551"/>
            <a:ext cx="487680" cy="487680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2110" y="6203752"/>
            <a:ext cx="17359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6949440" y="6122551"/>
            <a:ext cx="2709863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949440" y="6591300"/>
            <a:ext cx="6922294" cy="693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High-pass filters are widely used in audio systems, communication networks, and medical devices.</a:t>
            </a:r>
            <a:endParaRPr lang="en-US" sz="1700" dirty="0"/>
          </a:p>
        </p:txBody>
      </p:sp>
      <p:pic>
        <p:nvPicPr>
          <p:cNvPr id="17" name="Resim 16">
            <a:extLst>
              <a:ext uri="{FF2B5EF4-FFF2-40B4-BE49-F238E27FC236}">
                <a16:creationId xmlns:a16="http://schemas.microsoft.com/office/drawing/2014/main" id="{3EFB68C9-AAAB-1D54-D845-A556ED045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8923" y="7722858"/>
            <a:ext cx="1981477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Free Electronic circuit closeup Image | Download at StockCake">
            <a:extLst>
              <a:ext uri="{FF2B5EF4-FFF2-40B4-BE49-F238E27FC236}">
                <a16:creationId xmlns:a16="http://schemas.microsoft.com/office/drawing/2014/main" id="{35244EDA-D956-4EF3-6D3B-DF6EEBD349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09"/>
          <a:stretch/>
        </p:blipFill>
        <p:spPr bwMode="auto">
          <a:xfrm>
            <a:off x="8508380" y="-1"/>
            <a:ext cx="6122020" cy="8218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F1804363-175A-EBA2-68BD-F5A2ADF328D8}"/>
              </a:ext>
            </a:extLst>
          </p:cNvPr>
          <p:cNvSpPr/>
          <p:nvPr/>
        </p:nvSpPr>
        <p:spPr>
          <a:xfrm>
            <a:off x="2143088" y="3450033"/>
            <a:ext cx="4703762" cy="131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7700"/>
              </a:lnSpc>
              <a:buNone/>
            </a:pPr>
            <a:r>
              <a:rPr lang="en-US" sz="7200" kern="0">
                <a:effectLst/>
                <a:latin typeface="DM Sans Semi Bold "/>
                <a:ea typeface="MS Mincho" panose="02020609040205080304" pitchFamily="49" charset="-128"/>
              </a:rPr>
              <a:t>Thank You.</a:t>
            </a:r>
            <a:endParaRPr lang="en-US" sz="7200">
              <a:latin typeface="DM Sans Semi Bold "/>
            </a:endParaRPr>
          </a:p>
        </p:txBody>
      </p:sp>
    </p:spTree>
    <p:extLst>
      <p:ext uri="{BB962C8B-B14F-4D97-AF65-F5344CB8AC3E}">
        <p14:creationId xmlns:p14="http://schemas.microsoft.com/office/powerpoint/2010/main" val="3422313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863</Words>
  <Application>Microsoft Office PowerPoint</Application>
  <PresentationFormat>Özel</PresentationFormat>
  <Paragraphs>102</Paragraphs>
  <Slides>12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DM Sans Semi Bold </vt:lpstr>
      <vt:lpstr>Raleway</vt:lpstr>
      <vt:lpstr>Arial</vt:lpstr>
      <vt:lpstr>Roboto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HASAN HUMBƏTOV</cp:lastModifiedBy>
  <cp:revision>13</cp:revision>
  <dcterms:created xsi:type="dcterms:W3CDTF">2024-11-14T12:36:08Z</dcterms:created>
  <dcterms:modified xsi:type="dcterms:W3CDTF">2024-12-02T06:45:51Z</dcterms:modified>
</cp:coreProperties>
</file>